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65" r:id="rId6"/>
    <p:sldId id="257" r:id="rId7"/>
    <p:sldId id="264" r:id="rId8"/>
    <p:sldId id="268" r:id="rId9"/>
    <p:sldId id="258" r:id="rId10"/>
    <p:sldId id="266" r:id="rId11"/>
    <p:sldId id="267" r:id="rId12"/>
    <p:sldId id="272" r:id="rId13"/>
    <p:sldId id="260" r:id="rId14"/>
    <p:sldId id="269" r:id="rId15"/>
    <p:sldId id="270" r:id="rId16"/>
    <p:sldId id="271" r:id="rId17"/>
    <p:sldId id="27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BF0B6-F3DE-4A2B-9BD7-407000015D18}" type="datetimeFigureOut"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2B823-1D6A-43A0-8F5D-B606797570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6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2B823-1D6A-43A0-8F5D-B6067975700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6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2B823-1D6A-43A0-8F5D-B6067975700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37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2B823-1D6A-43A0-8F5D-B6067975700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34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2B823-1D6A-43A0-8F5D-B6067975700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12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2B823-1D6A-43A0-8F5D-B6067975700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75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B0B0B"/>
                </a:solidFill>
              </a:rPr>
              <a:t>Query → Match Terms → Create Anchors → Expand → Merge → Rank → Return Context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Query-Term Identification Normalize the query and locate exact or fuzzy term matches in the document.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Anchor Placement Each matching occurrence becomes an anchor representing a possible evidence location.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Parallel Expansion Each anchor expands left and right through the surrounding text.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Boundary Enforcement Expansion stops at neighboring anchor boundaries, document or section boundaries, or maximum chunk size (B).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Interval Merging Touching or overlapping regions merge when the combined span remains within (B).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Context Selection Candidate spans are ranked and selected until the total context budget is reached.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Limitation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B0B0B"/>
                </a:solidFill>
              </a:rPr>
              <a:t>Keyword matching may miss synonyms or paraphrases. Queries with no direct match remain in the evaluation so their effect can be measured.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2B823-1D6A-43A0-8F5D-B6067975700C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7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4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8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4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3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21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1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6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0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2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5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4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3.25333" TargetMode="External"/><Relationship Id="rId2" Type="http://schemas.openxmlformats.org/officeDocument/2006/relationships/hyperlink" Target="https://www.scitepress.org/Papers/2026/142320/142320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clanthology.org/2024.emnlp-main.845/" TargetMode="External"/><Relationship Id="rId4" Type="http://schemas.openxmlformats.org/officeDocument/2006/relationships/hyperlink" Target="https://aclanthology.org/2025.acl-long.153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5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6A562A-D12C-6B31-FED3-549C5B8D9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11004694" cy="2169779"/>
          </a:xfrm>
        </p:spPr>
        <p:txBody>
          <a:bodyPr>
            <a:normAutofit/>
          </a:bodyPr>
          <a:lstStyle/>
          <a:p>
            <a:pPr algn="l"/>
            <a:r>
              <a:rPr lang="en-US" sz="4000">
                <a:solidFill>
                  <a:schemeClr val="bg1"/>
                </a:solidFill>
              </a:rPr>
              <a:t>Team 4</a:t>
            </a:r>
            <a:br>
              <a:rPr lang="en-US" sz="4000" dirty="0"/>
            </a:br>
            <a:r>
              <a:rPr lang="en-US" sz="4000">
                <a:solidFill>
                  <a:schemeClr val="bg1"/>
                </a:solidFill>
              </a:rPr>
              <a:t>Adaptive Chunking for Retrieval-Augmented Generation</a:t>
            </a:r>
            <a:r>
              <a:rPr lang="en-US" sz="4000" dirty="0">
                <a:solidFill>
                  <a:schemeClr val="bg1"/>
                </a:solidFill>
              </a:rPr>
              <a:t> (RAG)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CA638-C79E-0059-2B09-3CD0D9C0B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Members: Justin Hammitt, Andrew Tamalunas, and Aimee Aholou</a:t>
            </a:r>
          </a:p>
        </p:txBody>
      </p:sp>
      <p:pic>
        <p:nvPicPr>
          <p:cNvPr id="4" name="1">
            <a:hlinkClick r:id="" action="ppaction://media"/>
            <a:extLst>
              <a:ext uri="{FF2B5EF4-FFF2-40B4-BE49-F238E27FC236}">
                <a16:creationId xmlns:a16="http://schemas.microsoft.com/office/drawing/2014/main" id="{83F9ADD4-11F1-C7BA-C8B9-3CDE223015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13256" y="5809494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3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81"/>
    </mc:Choice>
    <mc:Fallback xmlns="">
      <p:transition spd="slow" advTm="16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0" objId="4"/>
        <p14:stopEvt time="16481" objId="4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04B7D-3CAD-3565-AED8-3DAC71B9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Problem Statement: Objective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3ADD2-BF04-F731-02EE-FF174A56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400"/>
              <a:t>Improve retrieval completeness and answer accuracy while controlling irrelevant content, context size, and query-time processing cost.</a:t>
            </a:r>
          </a:p>
        </p:txBody>
      </p:sp>
      <p:pic>
        <p:nvPicPr>
          <p:cNvPr id="4" name="Problem Statement - Objective">
            <a:hlinkClick r:id="" action="ppaction://media"/>
            <a:extLst>
              <a:ext uri="{FF2B5EF4-FFF2-40B4-BE49-F238E27FC236}">
                <a16:creationId xmlns:a16="http://schemas.microsoft.com/office/drawing/2014/main" id="{59A177BA-ADA4-764E-3D1C-6E70D5D593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73732" y="5821589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3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51"/>
    </mc:Choice>
    <mc:Fallback xmlns="">
      <p:transition spd="slow" advTm="162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0" objId="4"/>
        <p14:stopEvt time="16251" objId="4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C793A-7689-5016-DB47-C9EE7E44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Problem Statement: Retrieval-Augmented Generation Chunking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6DE3-E1B2-B7B9-C92B-E9EDC7939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sz="2400" b="1"/>
              <a:t>Retrieval-Augmented Generation Chunking</a:t>
            </a:r>
          </a:p>
          <a:p>
            <a:pPr marL="457200" lvl="0" indent="-457200"/>
            <a:r>
              <a:rPr lang="en-US" sz="2400"/>
              <a:t>RAG systems retrieve document information and provide it to a language model as context for answering a query.</a:t>
            </a:r>
          </a:p>
          <a:p>
            <a:pPr marL="457200" lvl="0" indent="-457200"/>
            <a:r>
              <a:rPr lang="en-US" sz="2400"/>
              <a:t>Fixed chunk boundaries can separate related evidence or include unnecessary surrounding information.</a:t>
            </a:r>
          </a:p>
          <a:p>
            <a:pPr marL="457200" lvl="0" indent="-457200"/>
            <a:r>
              <a:rPr lang="en-US" sz="2400"/>
              <a:t>The project investigates constructing query-specific context spans instead of relying only on predefined chunks.</a:t>
            </a:r>
          </a:p>
          <a:p>
            <a:pPr marL="0" lvl="0" indent="0">
              <a:buNone/>
            </a:pPr>
            <a:endParaRPr lang="en-US" sz="2400"/>
          </a:p>
        </p:txBody>
      </p:sp>
      <p:pic>
        <p:nvPicPr>
          <p:cNvPr id="4" name="Problem Statement - RAG Chunking">
            <a:hlinkClick r:id="" action="ppaction://media"/>
            <a:extLst>
              <a:ext uri="{FF2B5EF4-FFF2-40B4-BE49-F238E27FC236}">
                <a16:creationId xmlns:a16="http://schemas.microsoft.com/office/drawing/2014/main" id="{9DACFED9-6A08-F973-7A0B-FF9C0AB228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49542" y="5918351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80"/>
    </mc:Choice>
    <mc:Fallback xmlns="">
      <p:transition spd="slow" advTm="334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" objId="4"/>
        <p14:stopEvt time="33135" objId="4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2CD01-3858-FBA3-A65F-C38E193B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Problem Statement: I/O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949A-53D5-39E7-5715-8C1D45534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Input</a:t>
            </a:r>
          </a:p>
          <a:p>
            <a:pPr marL="457200" indent="-457200"/>
            <a:r>
              <a:rPr lang="en-US" sz="2400"/>
              <a:t>Natural-language query, candidate documents, and maximum chunk size (B)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Query terms or anchors identify possible locations of relevant evidence.</a:t>
            </a:r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r>
              <a:rPr lang="en-US" sz="2400" b="1"/>
              <a:t>Output</a:t>
            </a:r>
            <a:r>
              <a:rPr lang="en-US" sz="2400"/>
              <a:t> </a:t>
            </a:r>
          </a:p>
          <a:p>
            <a:pPr marL="457200" indent="-457200"/>
            <a:r>
              <a:rPr lang="en-US" sz="2400"/>
              <a:t>One or more query-specific text spans containing the evidence needed to answer the query.</a:t>
            </a:r>
          </a:p>
          <a:p>
            <a:endParaRPr lang="en-US" sz="2400"/>
          </a:p>
        </p:txBody>
      </p:sp>
      <p:pic>
        <p:nvPicPr>
          <p:cNvPr id="4" name="Problem Statement - IO">
            <a:hlinkClick r:id="" action="ppaction://media"/>
            <a:extLst>
              <a:ext uri="{FF2B5EF4-FFF2-40B4-BE49-F238E27FC236}">
                <a16:creationId xmlns:a16="http://schemas.microsoft.com/office/drawing/2014/main" id="{D3837985-55DB-9970-FA7A-1744FC6EC6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6304" y="597882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6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84"/>
    </mc:Choice>
    <mc:Fallback xmlns="">
      <p:transition spd="slow" advTm="36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" objId="4"/>
        <p14:stopEvt time="36674" objId="4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AE1B4-4277-B8D6-486D-43530A89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90AA8-7048-D6C9-43EE-1E04480F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Problem Difficulty and Analysis: Overview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9383F-232F-258B-FB06-2E8A00C2E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 b="1"/>
              <a:t>Overview</a:t>
            </a:r>
            <a:endParaRPr lang="en-US" sz="1900">
              <a:highlight>
                <a:srgbClr val="FFFF00"/>
              </a:highlight>
              <a:ea typeface="+mn-lt"/>
              <a:cs typeface="+mn-lt"/>
            </a:endParaRPr>
          </a:p>
          <a:p>
            <a:pPr marL="457200" indent="-457200"/>
            <a:r>
              <a:rPr lang="en-US" sz="1900">
                <a:ea typeface="+mn-lt"/>
                <a:cs typeface="+mn-lt"/>
              </a:rPr>
              <a:t>Current RAG chunking methods use different strategies to identify and retrieve relevant context.</a:t>
            </a:r>
            <a:endParaRPr lang="en-US" sz="1900"/>
          </a:p>
          <a:p>
            <a:pPr marL="457200" indent="-457200"/>
            <a:r>
              <a:rPr lang="en-US" sz="1900">
                <a:ea typeface="+mn-lt"/>
                <a:cs typeface="+mn-lt"/>
              </a:rPr>
              <a:t>Common limitations include predefined boundaries, query-independent chunking, extra context, and fragmented evidence.</a:t>
            </a:r>
            <a:endParaRPr lang="en-US" sz="1900"/>
          </a:p>
          <a:p>
            <a:pPr marL="0" indent="0">
              <a:buNone/>
            </a:pPr>
            <a:endParaRPr lang="en-US" sz="1900" b="1"/>
          </a:p>
          <a:p>
            <a:pPr marL="0" indent="0">
              <a:buNone/>
            </a:pPr>
            <a:r>
              <a:rPr lang="en-US" sz="1900" b="1"/>
              <a:t>Main Difficulty</a:t>
            </a:r>
            <a:endParaRPr lang="en-US" sz="1900"/>
          </a:p>
          <a:p>
            <a:pPr marL="457200" indent="-457200"/>
            <a:r>
              <a:rPr lang="en-US" sz="1900"/>
              <a:t>Current methods still depend heavily on predefined or query-independent boundaries. Relevant evidence can occur in multiple locations, queries may contain repeated or missing terms, and the available context budget limits how much evidence can be returned.</a:t>
            </a:r>
            <a:br>
              <a:rPr lang="en-US" sz="1900"/>
            </a:br>
            <a:endParaRPr lang="en-US" sz="1900"/>
          </a:p>
          <a:p>
            <a:pPr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4" name="5">
            <a:hlinkClick r:id="" action="ppaction://media"/>
            <a:extLst>
              <a:ext uri="{FF2B5EF4-FFF2-40B4-BE49-F238E27FC236}">
                <a16:creationId xmlns:a16="http://schemas.microsoft.com/office/drawing/2014/main" id="{9F3377A8-55B3-C9B0-5F6F-F3D8BA740B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37447" y="5821589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92"/>
    </mc:Choice>
    <mc:Fallback xmlns="">
      <p:transition spd="slow" advTm="332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" objId="4"/>
        <p14:stopEvt time="33292" objId="4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B1014-E86B-1956-1E9E-0CFF9615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Problem Difficulty and Analysis: DCR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1191B-08D8-3E05-D3F3-75ADCF5CC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sz="2400" b="1"/>
              <a:t>Dynamic Context-Based Retrieval (DCR)</a:t>
            </a:r>
          </a:p>
          <a:p>
            <a:pPr marL="457200" lvl="0" indent="-457200"/>
            <a:r>
              <a:rPr lang="en-US" sz="2400"/>
              <a:t>Expands or contracts existing chunks using marginal information gain.</a:t>
            </a:r>
          </a:p>
          <a:p>
            <a:pPr marL="457200" lvl="0" indent="-457200"/>
            <a:r>
              <a:rPr lang="en-US" sz="2400"/>
              <a:t>May require LLM-based semantic validation.</a:t>
            </a:r>
          </a:p>
          <a:p>
            <a:pPr marL="457200" lvl="0" indent="-457200"/>
            <a:r>
              <a:rPr lang="en-US" sz="2400"/>
              <a:t>Adds query-time processing and requires threshold calibration.</a:t>
            </a:r>
          </a:p>
        </p:txBody>
      </p:sp>
      <p:pic>
        <p:nvPicPr>
          <p:cNvPr id="4" name="6">
            <a:hlinkClick r:id="" action="ppaction://media"/>
            <a:extLst>
              <a:ext uri="{FF2B5EF4-FFF2-40B4-BE49-F238E27FC236}">
                <a16:creationId xmlns:a16="http://schemas.microsoft.com/office/drawing/2014/main" id="{D27CC7F7-0D9E-C32D-A035-21656E9BE1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28589" y="5821589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2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96"/>
    </mc:Choice>
    <mc:Fallback xmlns="">
      <p:transition spd="slow" advTm="28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0" objId="4"/>
        <p14:stopEvt time="28396" objId="4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31F36-F86F-A181-62CF-33ABAAEF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AF88B-C7F5-57F9-1684-DBF85089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chemeClr val="bg1"/>
                </a:solidFill>
              </a:rPr>
              <a:t>Problem Difficulty and Analysis: Adaptive Chunking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9CF4-2DC3-34BF-31A0-B0DB82FD0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Adaptive Chunking</a:t>
            </a:r>
            <a:endParaRPr lang="en-US" sz="2400"/>
          </a:p>
          <a:p>
            <a:pPr marL="457200" lvl="0" indent="-457200"/>
            <a:r>
              <a:rPr lang="en-US" sz="2400"/>
              <a:t>Selects a chunking strategy based on document characteristics.</a:t>
            </a:r>
          </a:p>
          <a:p>
            <a:pPr marL="457200" lvl="0" indent="-457200"/>
            <a:r>
              <a:rPr lang="en-US" sz="2400"/>
              <a:t>Adaptation occurs before the specific user query is known.</a:t>
            </a:r>
          </a:p>
          <a:p>
            <a:pPr lvl="0"/>
            <a:endParaRPr lang="en-US" sz="2400"/>
          </a:p>
        </p:txBody>
      </p:sp>
      <p:pic>
        <p:nvPicPr>
          <p:cNvPr id="4" name="7">
            <a:hlinkClick r:id="" action="ppaction://media"/>
            <a:extLst>
              <a:ext uri="{FF2B5EF4-FFF2-40B4-BE49-F238E27FC236}">
                <a16:creationId xmlns:a16="http://schemas.microsoft.com/office/drawing/2014/main" id="{801C49A8-0091-ABA8-6FF4-8CBC812AFC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28589" y="5821589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0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04"/>
    </mc:Choice>
    <mc:Fallback xmlns="">
      <p:transition spd="slow" advTm="284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0" objId="4"/>
        <p14:stopEvt time="28404" objId="4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A916E-27A8-CDF3-B2AA-3B6C649F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665F6-EACE-5F10-FD73-39916931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Problem Difficulty and Analysis: DCS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4B65C-9962-EC59-DD75-529755F3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Dynamic Chunking and Selection (DCS)</a:t>
            </a:r>
            <a:endParaRPr lang="en-US" sz="2400"/>
          </a:p>
          <a:p>
            <a:pPr marL="457200" lvl="0" indent="-457200"/>
            <a:r>
              <a:rPr lang="en-US" sz="2400"/>
              <a:t>Creates document-aware segments and uses a question-aware classifier to select them.</a:t>
            </a:r>
          </a:p>
          <a:p>
            <a:pPr marL="457200" lvl="0" indent="-457200"/>
            <a:r>
              <a:rPr lang="en-US" sz="2400"/>
              <a:t>Still selects from predefined segments.</a:t>
            </a:r>
          </a:p>
        </p:txBody>
      </p:sp>
      <p:pic>
        <p:nvPicPr>
          <p:cNvPr id="4" name="8">
            <a:hlinkClick r:id="" action="ppaction://media"/>
            <a:extLst>
              <a:ext uri="{FF2B5EF4-FFF2-40B4-BE49-F238E27FC236}">
                <a16:creationId xmlns:a16="http://schemas.microsoft.com/office/drawing/2014/main" id="{1BD14BDD-9D9F-C6FD-C0E7-472299F002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40685" y="5821589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3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01"/>
    </mc:Choice>
    <mc:Fallback xmlns="">
      <p:transition spd="slow" advTm="337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" objId="4"/>
        <p14:stopEvt time="33310" objId="4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4EED3-D019-1EB4-7287-1A27E4F6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C263A-AA72-AD40-A0AE-D940821D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" y="-115"/>
            <a:ext cx="12187312" cy="1183801"/>
          </a:xfrm>
          <a:solidFill>
            <a:schemeClr val="tx1">
              <a:lumMod val="85000"/>
              <a:lumOff val="15000"/>
            </a:schemeClr>
          </a:solidFill>
        </p:spPr>
        <p:txBody>
          <a:bodyPr anchor="b">
            <a:normAutofit/>
          </a:bodyPr>
          <a:lstStyle/>
          <a:p>
            <a:pPr algn="ctr"/>
            <a:r>
              <a:rPr lang="en-US" sz="2600">
                <a:solidFill>
                  <a:schemeClr val="bg1"/>
                </a:solidFill>
              </a:rPr>
              <a:t>Problem Difficulty Analysis and Proposed Method (cont. algorithm/graphic)</a:t>
            </a:r>
            <a:endParaRPr lang="en-US">
              <a:solidFill>
                <a:schemeClr val="bg1"/>
              </a:solidFill>
            </a:endParaRPr>
          </a:p>
          <a:p>
            <a:endParaRPr lang="en-US" sz="2600"/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2EE0D-9A37-3A89-68D9-E7C2E4BF1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endParaRPr lang="en-US" sz="2200"/>
          </a:p>
          <a:p>
            <a:pPr>
              <a:buFont typeface="Arial"/>
              <a:buChar char="•"/>
            </a:pPr>
            <a:endParaRPr lang="en-US" sz="2200"/>
          </a:p>
          <a:p>
            <a:pPr marL="0" indent="0">
              <a:buNone/>
            </a:pPr>
            <a:endParaRPr lang="en-US" sz="2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B4D05-A0A9-A7CE-3681-05615921D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83686"/>
            <a:ext cx="11905729" cy="5665299"/>
          </a:xfrm>
          <a:prstGeom prst="rect">
            <a:avLst/>
          </a:prstGeom>
        </p:spPr>
      </p:pic>
      <p:pic>
        <p:nvPicPr>
          <p:cNvPr id="4" name="Recording (2)">
            <a:hlinkClick r:id="" action="ppaction://media"/>
            <a:extLst>
              <a:ext uri="{FF2B5EF4-FFF2-40B4-BE49-F238E27FC236}">
                <a16:creationId xmlns:a16="http://schemas.microsoft.com/office/drawing/2014/main" id="{AB1ADC5D-B859-0A57-66F2-98BDEEB1FE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79894" y="583870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6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212"/>
    </mc:Choice>
    <mc:Fallback xmlns="">
      <p:transition spd="slow" advTm="36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" objId="4"/>
        <p14:stopEvt time="36212" objId="4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954A7-7849-9243-DC9B-A8AC9B89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Simulation Setting: Implementation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51A62-5BEC-C957-E502-01C4AC5D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sz="2400" b="1"/>
              <a:t>Python</a:t>
            </a:r>
            <a:endParaRPr lang="en-US" sz="2400"/>
          </a:p>
          <a:p>
            <a:pPr marL="457200" lvl="0" indent="-457200"/>
            <a:r>
              <a:rPr lang="en-US" sz="2400"/>
              <a:t>Document preprocessing and query-term identification</a:t>
            </a:r>
          </a:p>
          <a:p>
            <a:pPr marL="457200" lvl="0" indent="-457200"/>
            <a:r>
              <a:rPr lang="en-US" sz="2400"/>
              <a:t>Anchor placement and interval expansion</a:t>
            </a:r>
          </a:p>
          <a:p>
            <a:pPr marL="457200" lvl="0" indent="-457200"/>
            <a:r>
              <a:rPr lang="en-US" sz="2400"/>
              <a:t>Interval merging and candidate ranking</a:t>
            </a:r>
          </a:p>
          <a:p>
            <a:pPr marL="457200" lvl="0" indent="-457200"/>
            <a:r>
              <a:rPr lang="en-US" sz="2400"/>
              <a:t>pandas / NumPy for experimental analysis</a:t>
            </a:r>
          </a:p>
          <a:p>
            <a:endParaRPr lang="en-US" sz="2400"/>
          </a:p>
        </p:txBody>
      </p:sp>
      <p:pic>
        <p:nvPicPr>
          <p:cNvPr id="4" name="Recording (2)">
            <a:hlinkClick r:id="" action="ppaction://media"/>
            <a:extLst>
              <a:ext uri="{FF2B5EF4-FFF2-40B4-BE49-F238E27FC236}">
                <a16:creationId xmlns:a16="http://schemas.microsoft.com/office/drawing/2014/main" id="{A35700B5-4640-F866-A585-BFA7415016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50498" y="5824328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66"/>
    </mc:Choice>
    <mc:Fallback xmlns="">
      <p:transition spd="slow" advTm="29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" objId="4"/>
        <p14:stopEvt time="29066" objId="4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E0AD3-2559-15C3-313B-69EC2421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52566-87AF-34B6-C6E8-47BE6704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Simulation Setting</a:t>
            </a:r>
            <a:r>
              <a:rPr lang="en-US" sz="3400">
                <a:solidFill>
                  <a:schemeClr val="bg1"/>
                </a:solidFill>
              </a:rPr>
              <a:t>: </a:t>
            </a: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and Experimental Sizes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5169AF-0CF3-17F4-A034-A43A98157508}"/>
              </a:ext>
            </a:extLst>
          </p:cNvPr>
          <p:cNvSpPr txBox="1">
            <a:spLocks/>
          </p:cNvSpPr>
          <p:nvPr/>
        </p:nvSpPr>
        <p:spPr>
          <a:xfrm>
            <a:off x="1155548" y="2217343"/>
            <a:ext cx="4155008" cy="3959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600" b="1" err="1"/>
              <a:t>SQuAD</a:t>
            </a:r>
            <a:r>
              <a:rPr lang="en-US" sz="1600" b="1"/>
              <a:t> 1.1</a:t>
            </a:r>
            <a:endParaRPr lang="en-US" sz="1600"/>
          </a:p>
          <a:p>
            <a:pPr marL="457200"/>
            <a:r>
              <a:rPr lang="en-US" sz="1600"/>
              <a:t>300 questions</a:t>
            </a:r>
          </a:p>
          <a:p>
            <a:pPr marL="457200"/>
            <a:r>
              <a:rPr lang="en-US" sz="1600"/>
              <a:t>10 source articles</a:t>
            </a:r>
          </a:p>
          <a:p>
            <a:pPr marL="457200"/>
            <a:r>
              <a:rPr lang="en-US" sz="1600"/>
              <a:t>60 development questions</a:t>
            </a:r>
          </a:p>
          <a:p>
            <a:pPr marL="457200"/>
            <a:r>
              <a:rPr lang="en-US" sz="1600"/>
              <a:t>240 test questions from separate articles</a:t>
            </a:r>
          </a:p>
          <a:p>
            <a:pPr marL="0"/>
            <a:r>
              <a:rPr lang="en-US" sz="1600" b="1"/>
              <a:t>Methods Compared</a:t>
            </a:r>
            <a:endParaRPr lang="en-US" sz="1600"/>
          </a:p>
          <a:p>
            <a:pPr marL="457200"/>
            <a:r>
              <a:rPr lang="en-US" sz="1600"/>
              <a:t>Proposed Query-Anchored Expansion</a:t>
            </a:r>
          </a:p>
          <a:p>
            <a:pPr marL="457200"/>
            <a:r>
              <a:rPr lang="en-US" sz="1600"/>
              <a:t>Adaptive Chunking</a:t>
            </a:r>
          </a:p>
          <a:p>
            <a:pPr marL="457200"/>
            <a:r>
              <a:rPr lang="en-US" sz="1600"/>
              <a:t>Fixed-Size Chunking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277C5-F254-B447-3A06-67CFF611AC5D}"/>
              </a:ext>
            </a:extLst>
          </p:cNvPr>
          <p:cNvSpPr txBox="1">
            <a:spLocks/>
          </p:cNvSpPr>
          <p:nvPr/>
        </p:nvSpPr>
        <p:spPr>
          <a:xfrm>
            <a:off x="6097662" y="2293543"/>
            <a:ext cx="4155008" cy="3959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600" b="1"/>
              <a:t>Maximum Chunk Sizes</a:t>
            </a:r>
            <a:endParaRPr lang="en-US" sz="1600"/>
          </a:p>
          <a:p>
            <a:pPr marL="457200"/>
            <a:r>
              <a:rPr lang="en-US" sz="1600"/>
              <a:t>128 tokens</a:t>
            </a:r>
          </a:p>
          <a:p>
            <a:pPr marL="457200"/>
            <a:r>
              <a:rPr lang="en-US" sz="1600"/>
              <a:t>256 tokens</a:t>
            </a:r>
          </a:p>
          <a:p>
            <a:pPr marL="457200"/>
            <a:r>
              <a:rPr lang="en-US" sz="1600"/>
              <a:t>512 tokens</a:t>
            </a:r>
          </a:p>
          <a:p>
            <a:r>
              <a:rPr lang="en-US" sz="1600" b="1"/>
              <a:t>Total Context Budgets</a:t>
            </a:r>
            <a:endParaRPr lang="en-US" sz="1600"/>
          </a:p>
          <a:p>
            <a:pPr marL="457200"/>
            <a:r>
              <a:rPr lang="en-US" sz="1600"/>
              <a:t>512 tokens</a:t>
            </a:r>
          </a:p>
          <a:p>
            <a:pPr marL="457200"/>
            <a:r>
              <a:rPr lang="en-US" sz="1600"/>
              <a:t>1,024 tokens</a:t>
            </a:r>
          </a:p>
        </p:txBody>
      </p:sp>
      <p:pic>
        <p:nvPicPr>
          <p:cNvPr id="3" name="Recording (6)">
            <a:hlinkClick r:id="" action="ppaction://media"/>
            <a:extLst>
              <a:ext uri="{FF2B5EF4-FFF2-40B4-BE49-F238E27FC236}">
                <a16:creationId xmlns:a16="http://schemas.microsoft.com/office/drawing/2014/main" id="{3C5491F7-1F45-BA4D-356E-14304AFB48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22384" y="588183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22"/>
    </mc:Choice>
    <mc:Fallback xmlns="">
      <p:transition spd="slow" advTm="430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" objId="3"/>
        <p14:stopEvt time="42081" objId="3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BFEAC-F7B5-6ED6-822E-BFD234D1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F0340F-2F59-4DA1-59F5-90B33B5D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CC93A-A847-82E6-4C88-1C3203EC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" y="-866"/>
            <a:ext cx="12185380" cy="1698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b="0" i="0" u="none" strike="noStrike" baseline="0">
                <a:solidFill>
                  <a:schemeClr val="bg1"/>
                </a:solidFill>
                <a:latin typeface="Aptos Display"/>
              </a:rPr>
              <a:t>Simulation Setting (continued </a:t>
            </a:r>
            <a:r>
              <a:rPr lang="en-US">
                <a:solidFill>
                  <a:schemeClr val="bg1"/>
                </a:solidFill>
                <a:latin typeface="Aptos Display"/>
              </a:rPr>
              <a:t>-</a:t>
            </a:r>
            <a:r>
              <a:rPr lang="en-US" sz="4400" b="0" i="0" u="none" strike="noStrike" baseline="0">
                <a:solidFill>
                  <a:schemeClr val="bg1"/>
                </a:solidFill>
                <a:latin typeface="Aptos Display"/>
              </a:rPr>
              <a:t> metrics/evaluation)</a:t>
            </a:r>
            <a:r>
              <a:rPr lang="en-US" sz="4400" b="0" i="0">
                <a:solidFill>
                  <a:schemeClr val="bg1"/>
                </a:solidFill>
                <a:latin typeface="Aptos Display"/>
              </a:rPr>
              <a:t>​</a:t>
            </a:r>
            <a:endParaRPr lang="en-US" sz="3400" kern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2897DE-F594-B34A-88B4-D4CC50C9D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D80DBC-BFE0-F116-6C90-C60A678CE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953E11-BDD0-C8A4-8B1C-A18B005B3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817" y="2068443"/>
            <a:ext cx="547323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/>
              <a:t>Retrieval Quality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Evidence Recall — amount of required supporting evidence retrieved</a:t>
            </a:r>
            <a:endParaRPr lang="en-US"/>
          </a:p>
          <a:p>
            <a:pPr marL="457200" indent="-457200"/>
            <a:r>
              <a:rPr lang="en-US">
                <a:ea typeface="+mn-lt"/>
                <a:cs typeface="+mn-lt"/>
              </a:rPr>
              <a:t>Retrieval Precision — amount of retrieved context that is relevant evidence</a:t>
            </a:r>
            <a:endParaRPr lang="en-US"/>
          </a:p>
          <a:p>
            <a:pPr marL="457200" indent="-457200"/>
            <a:r>
              <a:rPr lang="en-US">
                <a:ea typeface="+mn-lt"/>
                <a:cs typeface="+mn-lt"/>
              </a:rPr>
              <a:t>Evidence Completeness — whether all major required evidence is present</a:t>
            </a:r>
            <a:endParaRPr lang="en-US"/>
          </a:p>
          <a:p>
            <a:pPr marL="0" indent="0">
              <a:buNone/>
            </a:pPr>
            <a:r>
              <a:rPr lang="en-US" b="1"/>
              <a:t>Answer Quality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Exact Match</a:t>
            </a:r>
          </a:p>
          <a:p>
            <a:pPr marL="457200" lvl="0" indent="-457200"/>
            <a:r>
              <a:rPr lang="en-US">
                <a:ea typeface="+mn-lt"/>
                <a:cs typeface="+mn-lt"/>
              </a:rPr>
              <a:t>Token-Level F1</a:t>
            </a:r>
          </a:p>
          <a:p>
            <a:pPr marL="0" indent="0">
              <a:buNone/>
            </a:pPr>
            <a:r>
              <a:rPr lang="en-US" b="1"/>
              <a:t>Efficiency</a:t>
            </a:r>
          </a:p>
          <a:p>
            <a:pPr marL="457200" lvl="0" indent="-457200">
              <a:buFont typeface="Arial"/>
            </a:pPr>
            <a:r>
              <a:rPr lang="en-US">
                <a:ea typeface="+mn-lt"/>
                <a:cs typeface="+mn-lt"/>
              </a:rPr>
              <a:t>Context Size</a:t>
            </a:r>
          </a:p>
          <a:p>
            <a:pPr marL="457200" lvl="0" indent="-457200">
              <a:buFont typeface="Arial"/>
            </a:pPr>
            <a:r>
              <a:rPr lang="en-US">
                <a:ea typeface="+mn-lt"/>
                <a:cs typeface="+mn-lt"/>
              </a:rPr>
              <a:t>Retrieval Latency</a:t>
            </a:r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Preprocessing Cost</a:t>
            </a:r>
            <a:endParaRPr lang="en-US"/>
          </a:p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54C5FF-11BE-66A0-C946-D19706EAB83C}"/>
              </a:ext>
            </a:extLst>
          </p:cNvPr>
          <p:cNvSpPr txBox="1">
            <a:spLocks/>
          </p:cNvSpPr>
          <p:nvPr/>
        </p:nvSpPr>
        <p:spPr>
          <a:xfrm>
            <a:off x="6198754" y="2070324"/>
            <a:ext cx="547323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Evaluation Controls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All methods use the same:</a:t>
            </a:r>
            <a:endParaRPr lang="en-US"/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Documents and questions</a:t>
            </a:r>
            <a:endParaRPr lang="en-US"/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Retrieval system</a:t>
            </a:r>
            <a:endParaRPr lang="en-US"/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Chunk-ranking rules</a:t>
            </a:r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Total context budgets</a:t>
            </a:r>
            <a:endParaRPr lang="en-US"/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Language model</a:t>
            </a:r>
            <a:endParaRPr lang="en-US"/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Prompts and generation settings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Supporting-evidence labels are established before the final comparison, and no-match queries are reported separately.</a:t>
            </a:r>
            <a:endParaRPr lang="en-US"/>
          </a:p>
          <a:p>
            <a:endParaRPr lang="en-US"/>
          </a:p>
        </p:txBody>
      </p:sp>
      <p:pic>
        <p:nvPicPr>
          <p:cNvPr id="3" name="Recording (7)">
            <a:hlinkClick r:id="" action="ppaction://media"/>
            <a:extLst>
              <a:ext uri="{FF2B5EF4-FFF2-40B4-BE49-F238E27FC236}">
                <a16:creationId xmlns:a16="http://schemas.microsoft.com/office/drawing/2014/main" id="{57F260A4-0AB6-5156-F985-9B80F5C458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23668" y="6054366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9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39"/>
    </mc:Choice>
    <mc:Fallback xmlns="">
      <p:transition spd="slow" advTm="369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" objId="3"/>
        <p14:stopEvt time="36895" objId="3"/>
      </p14:showEvt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FA550-F915-1CE8-BECD-58E161865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8B76C0-69BB-840C-3329-DCA299413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149E2-496F-8F4B-FEB7-B40EE55D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" y="-866"/>
            <a:ext cx="12185380" cy="1698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0" i="0" u="none" strike="noStrike" baseline="0">
                <a:solidFill>
                  <a:srgbClr val="FFFFFF"/>
                </a:solidFill>
                <a:latin typeface="Aptos Display"/>
              </a:rPr>
              <a:t>Milestones and Timeline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: Milestones</a:t>
            </a:r>
            <a:r>
              <a:rPr lang="en-US" sz="4000" b="0" i="0">
                <a:latin typeface="Aptos Display"/>
              </a:rPr>
              <a:t>​</a:t>
            </a:r>
            <a:endParaRPr lang="en-US" kern="120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D4FC5-9112-3E84-D894-39A286292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0CB32-D43F-FE97-FAB3-65C7C4C0D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28C216-9AB0-ED8B-1B63-870B4DFA6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817" y="2068443"/>
            <a:ext cx="547323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>
              <a:buFont typeface="Arial"/>
              <a:buChar char="•"/>
            </a:pPr>
            <a:r>
              <a:rPr lang="en-US" sz="2000" b="1"/>
              <a:t>Dataset</a:t>
            </a:r>
            <a:r>
              <a:rPr lang="en-US" sz="2000" b="1">
                <a:ea typeface="+mn-lt"/>
                <a:cs typeface="+mn-lt"/>
              </a:rPr>
              <a:t> Preparation</a:t>
            </a:r>
            <a:endParaRPr lang="en-US" sz="2000"/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Select </a:t>
            </a:r>
            <a:r>
              <a:rPr lang="en-US" sz="2000" err="1">
                <a:ea typeface="+mn-lt"/>
                <a:cs typeface="+mn-lt"/>
              </a:rPr>
              <a:t>SQuAD</a:t>
            </a:r>
            <a:r>
              <a:rPr lang="en-US" sz="2000">
                <a:ea typeface="+mn-lt"/>
                <a:cs typeface="+mn-lt"/>
              </a:rPr>
              <a:t> articles and questions</a:t>
            </a:r>
            <a:endParaRPr lang="en-US" sz="2000"/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Establish supporting-evidence labels</a:t>
            </a:r>
            <a:endParaRPr lang="en-US" sz="2000"/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Separate development and test data</a:t>
            </a:r>
            <a:endParaRPr lang="en-US" sz="2000"/>
          </a:p>
          <a:p>
            <a:pPr marL="0">
              <a:buFont typeface="Arial"/>
              <a:buChar char="•"/>
            </a:pPr>
            <a:r>
              <a:rPr lang="en-US" sz="2000" b="1"/>
              <a:t>Baseline Implementation</a:t>
            </a:r>
            <a:endParaRPr lang="en-US" sz="2000"/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Adaptive Chunking</a:t>
            </a:r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Fixed-Size Chunking</a:t>
            </a:r>
          </a:p>
          <a:p>
            <a:pPr marL="0">
              <a:buFont typeface="Arial"/>
              <a:buChar char="•"/>
            </a:pPr>
            <a:r>
              <a:rPr lang="en-US" sz="2000" b="1"/>
              <a:t>Proposed Algorithm</a:t>
            </a:r>
            <a:endParaRPr lang="en-US" sz="2000"/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Query-term matching</a:t>
            </a:r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Anchor placement and expansion</a:t>
            </a:r>
          </a:p>
          <a:p>
            <a:pPr marL="457200">
              <a:buFont typeface="Arial"/>
            </a:pPr>
            <a:r>
              <a:rPr lang="en-US" sz="2000">
                <a:ea typeface="+mn-lt"/>
                <a:cs typeface="+mn-lt"/>
              </a:rPr>
              <a:t>Interval merging and context-budget handling</a:t>
            </a:r>
            <a:endParaRPr lang="en-US" sz="2000"/>
          </a:p>
          <a:p>
            <a:pPr marL="0" indent="0">
              <a:buNone/>
            </a:pPr>
            <a:endParaRPr lang="en-US" b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8492A8-E61D-5B1B-CD33-9EFB897DD3F5}"/>
              </a:ext>
            </a:extLst>
          </p:cNvPr>
          <p:cNvSpPr txBox="1">
            <a:spLocks/>
          </p:cNvSpPr>
          <p:nvPr/>
        </p:nvSpPr>
        <p:spPr>
          <a:xfrm>
            <a:off x="6198754" y="2070324"/>
            <a:ext cx="547323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buFont typeface="Arial"/>
              <a:buChar char="•"/>
            </a:pPr>
            <a:r>
              <a:rPr lang="en-US" sz="1800" b="1" dirty="0"/>
              <a:t>Development Testing</a:t>
            </a:r>
            <a:endParaRPr lang="en-US" sz="1800"/>
          </a:p>
          <a:p>
            <a:pPr marL="45720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Use the 60-question development set</a:t>
            </a:r>
            <a:endParaRPr lang="en-US" sz="1800"/>
          </a:p>
          <a:p>
            <a:pPr marL="457200">
              <a:buFont typeface="Arial"/>
            </a:pPr>
            <a:r>
              <a:rPr lang="en-US" sz="1800" dirty="0">
                <a:ea typeface="+mn-lt"/>
                <a:cs typeface="+mn-lt"/>
              </a:rPr>
              <a:t>Establish algorithm parameters and verify behavior</a:t>
            </a:r>
          </a:p>
          <a:p>
            <a:pPr marL="0">
              <a:buFont typeface="Arial"/>
            </a:pPr>
            <a:r>
              <a:rPr lang="en-US" sz="1800" b="1" dirty="0">
                <a:ea typeface="+mn-lt"/>
                <a:cs typeface="+mn-lt"/>
              </a:rPr>
              <a:t>Final Evaluation</a:t>
            </a:r>
            <a:endParaRPr lang="en-US" sz="1800"/>
          </a:p>
          <a:p>
            <a:pPr marL="457200">
              <a:buFont typeface="Arial"/>
            </a:pPr>
            <a:r>
              <a:rPr lang="en-US" sz="1800" dirty="0">
                <a:ea typeface="+mn-lt"/>
                <a:cs typeface="+mn-lt"/>
              </a:rPr>
              <a:t>Run the 240-question test set</a:t>
            </a:r>
            <a:endParaRPr lang="en-US" sz="1800"/>
          </a:p>
          <a:p>
            <a:pPr marL="457200">
              <a:buFont typeface="Arial"/>
            </a:pPr>
            <a:r>
              <a:rPr lang="en-US" sz="1800" dirty="0">
                <a:ea typeface="+mn-lt"/>
                <a:cs typeface="+mn-lt"/>
              </a:rPr>
              <a:t>Collect retrieval, answer-quality, and efficiency metrics</a:t>
            </a:r>
          </a:p>
          <a:p>
            <a:pPr marL="0">
              <a:buFont typeface="Arial"/>
            </a:pPr>
            <a:r>
              <a:rPr lang="en-US" sz="1800" b="1" dirty="0">
                <a:ea typeface="+mn-lt"/>
                <a:cs typeface="+mn-lt"/>
              </a:rPr>
              <a:t>Results Analysis</a:t>
            </a:r>
            <a:endParaRPr lang="en-US" sz="1800"/>
          </a:p>
          <a:p>
            <a:pPr marL="45720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Compare the three methods</a:t>
            </a:r>
          </a:p>
          <a:p>
            <a:pPr marL="45720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Examine chunk-size and context-budget tradeoffs</a:t>
            </a:r>
          </a:p>
          <a:p>
            <a:pPr marL="45720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Analyze no-match cases and algorithm limitations</a:t>
            </a:r>
            <a:endParaRPr lang="en-US" sz="1800"/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3" name="Recording (13)">
            <a:hlinkClick r:id="" action="ppaction://media"/>
            <a:extLst>
              <a:ext uri="{FF2B5EF4-FFF2-40B4-BE49-F238E27FC236}">
                <a16:creationId xmlns:a16="http://schemas.microsoft.com/office/drawing/2014/main" id="{C86F3E15-964B-1264-6DB1-34299F2C01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23668" y="6054366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9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93"/>
    </mc:Choice>
    <mc:Fallback xmlns="">
      <p:transition spd="slow" advTm="35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" objId="3"/>
        <p14:stopEvt time="35393" objId="3"/>
      </p14:showEvt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EDA65-C90C-389D-B286-8AE865AD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B01F0AE-8442-F9D1-226E-C84B3B029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005CF-CCD8-560B-6F92-6CB7D4AC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" y="-866"/>
            <a:ext cx="12185381" cy="1698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0" i="0" u="none" strike="noStrike" baseline="0">
                <a:solidFill>
                  <a:srgbClr val="FFFFFF"/>
                </a:solidFill>
                <a:latin typeface="Aptos Display"/>
              </a:rPr>
              <a:t>Milestones and Timeline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: Timeline</a:t>
            </a:r>
            <a:r>
              <a:rPr lang="en-US" sz="4000" b="0" i="0">
                <a:latin typeface="Aptos Display"/>
              </a:rPr>
              <a:t>​</a:t>
            </a:r>
            <a:endParaRPr lang="en-US" kern="120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897B6-042F-FC88-D756-A257CA210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271F91-FA2C-AD25-B9D7-EBFEEF9F2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480FD1-BF04-E7BD-F075-3877C7F4E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216424"/>
              </p:ext>
            </p:extLst>
          </p:nvPr>
        </p:nvGraphicFramePr>
        <p:xfrm>
          <a:off x="838200" y="1825625"/>
          <a:ext cx="10515600" cy="43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186014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68038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40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Sept 21 – Oct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Select </a:t>
                      </a:r>
                      <a:r>
                        <a:rPr lang="en-US" sz="1800" b="0" i="0" u="none" strike="noStrike" noProof="0" err="1">
                          <a:latin typeface="Aptos"/>
                        </a:rPr>
                        <a:t>SQuAD</a:t>
                      </a:r>
                      <a:r>
                        <a:rPr lang="en-US" sz="1800" b="0" i="0" u="none" strike="noStrike" noProof="0">
                          <a:latin typeface="Aptos"/>
                        </a:rPr>
                        <a:t> questions, establish evidence labels, split development/test data, and implement the baseline chunking methods.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20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Oct 12 – Oct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Implement query-term matching, anchor placement, expansion, interval merging, and context-budget handling.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97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Oct 25 – Nov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Tune parameters on the 60-question development set, then evaluate all methods on the 240-question test set.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9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Nov 23 – Dec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Compare methods, analyze tradeoffs and limitations, prepare final slides/demo, and submit the report and code.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3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803984"/>
                  </a:ext>
                </a:extLst>
              </a:tr>
            </a:tbl>
          </a:graphicData>
        </a:graphic>
      </p:graphicFrame>
      <p:pic>
        <p:nvPicPr>
          <p:cNvPr id="3" name="Picture 2">
            <a:hlinkClick r:id="" action="ppaction://media"/>
            <a:extLst>
              <a:ext uri="{FF2B5EF4-FFF2-40B4-BE49-F238E27FC236}">
                <a16:creationId xmlns:a16="http://schemas.microsoft.com/office/drawing/2014/main" id="{B68FC103-91BE-D93C-85E8-AD9B2EEF13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52137" y="5863923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3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855"/>
    </mc:Choice>
    <mc:Fallback xmlns="">
      <p:transition spd="slow" advTm="83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0" objId="3"/>
        <p14:stopEvt time="83855" objId="3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0CC08-CF65-1D9B-EEED-5552A29F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91" y="-3285"/>
            <a:ext cx="12198685" cy="169841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References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E4019-D229-6B64-DABE-FC6F458DF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800100" indent="-342900">
              <a:spcBef>
                <a:spcPts val="500"/>
              </a:spcBef>
            </a:pP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Sreenivasan Mohandas and Tiasha Majumdar. </a:t>
            </a:r>
            <a:r>
              <a:rPr lang="en-US" sz="2000" i="1">
                <a:ea typeface="+mn-lt"/>
                <a:cs typeface="+mn-lt"/>
              </a:rPr>
              <a:t>Think before You Fetch: Smarter Retrieval for Smarter LLMs with Enhanced Table Understanding and Long-Form Reasoning</a:t>
            </a:r>
            <a:r>
              <a:rPr lang="en-US" sz="2000">
                <a:ea typeface="+mn-lt"/>
                <a:cs typeface="+mn-lt"/>
              </a:rPr>
              <a:t>. Proceedings of the 18th International Conference on Agents and Artificial Intelligence (ICAART 2026), Volume 2, pp. 1166–1174. SCITEPRESS. 2026. </a:t>
            </a:r>
            <a:r>
              <a:rPr lang="en-US" sz="2000">
                <a:ea typeface="+mn-lt"/>
                <a:cs typeface="+mn-lt"/>
                <a:hlinkClick r:id="rId2"/>
              </a:rPr>
              <a:t>142320.pdf</a:t>
            </a:r>
            <a:endParaRPr lang="en-US" sz="2000">
              <a:ea typeface="+mn-lt"/>
              <a:cs typeface="+mn-lt"/>
            </a:endParaRPr>
          </a:p>
          <a:p>
            <a:pPr marL="800100" indent="-342900">
              <a:spcBef>
                <a:spcPts val="500"/>
              </a:spcBef>
            </a:pP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Paulo Roberto de Moura Júnior, Jean Lelong, and Annabelle Blangero. </a:t>
            </a:r>
            <a:r>
              <a:rPr lang="en-US" sz="2000" i="1">
                <a:ea typeface="+mn-lt"/>
                <a:cs typeface="+mn-lt"/>
              </a:rPr>
              <a:t>Adaptive Chunking: Optimizing Chunking-Method Selection for RAG</a:t>
            </a:r>
            <a:r>
              <a:rPr lang="en-US" sz="2000">
                <a:ea typeface="+mn-lt"/>
                <a:cs typeface="+mn-lt"/>
              </a:rPr>
              <a:t>. Proceedings of the Fifteenth Language Resources and Evaluation Conference (LREC), Palma de Mallorca, Spain. 2026. </a:t>
            </a:r>
            <a:r>
              <a:rPr lang="en-US" sz="2000">
                <a:ea typeface="+mn-lt"/>
                <a:cs typeface="+mn-lt"/>
                <a:hlinkClick r:id="rId3"/>
              </a:rPr>
              <a:t>[2603.25333] Adaptive Chunking: Optimizing Chunking-Method Selection for RAG</a:t>
            </a:r>
            <a:endParaRPr lang="en-US" sz="2000"/>
          </a:p>
          <a:p>
            <a:pPr marL="800100" indent="-342900">
              <a:spcBef>
                <a:spcPts val="500"/>
              </a:spcBef>
            </a:pP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Boheng Sheng, Jiacheng Yao, Meicong Zhang, and </a:t>
            </a:r>
            <a:r>
              <a:rPr lang="en-US" sz="2000" err="1">
                <a:ea typeface="+mn-lt"/>
                <a:cs typeface="+mn-lt"/>
              </a:rPr>
              <a:t>Guoxiu</a:t>
            </a:r>
            <a:r>
              <a:rPr lang="en-US" sz="2000">
                <a:ea typeface="+mn-lt"/>
                <a:cs typeface="+mn-lt"/>
              </a:rPr>
              <a:t> He. </a:t>
            </a:r>
            <a:r>
              <a:rPr lang="en-US" sz="2000" i="1">
                <a:ea typeface="+mn-lt"/>
                <a:cs typeface="+mn-lt"/>
              </a:rPr>
              <a:t>Dynamic Chunking and Selection for Reading Comprehension of Ultra-Long Context in Large Language Models</a:t>
            </a:r>
            <a:r>
              <a:rPr lang="en-US" sz="2000">
                <a:ea typeface="+mn-lt"/>
                <a:cs typeface="+mn-lt"/>
              </a:rPr>
              <a:t>. Proceedings of the 63rd Annual Meeting of the Association for Computational Linguistics (ACL), Volume 1: Long Papers. 2025. </a:t>
            </a:r>
            <a:r>
              <a:rPr lang="en-US" sz="2000">
                <a:ea typeface="+mn-lt"/>
                <a:cs typeface="+mn-lt"/>
                <a:hlinkClick r:id="rId4"/>
              </a:rPr>
              <a:t>2025.acl-long.1538.pdf</a:t>
            </a:r>
          </a:p>
          <a:p>
            <a:pPr marL="800100" indent="-342900">
              <a:spcBef>
                <a:spcPts val="500"/>
              </a:spcBef>
            </a:pP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Tong Chen, Hongwei Wang, Sihao Chen, Wenhao Yu, Kaixin Ma, Xinran Zhao, </a:t>
            </a:r>
            <a:r>
              <a:rPr lang="en-US" sz="2000" err="1">
                <a:ea typeface="+mn-lt"/>
                <a:cs typeface="+mn-lt"/>
              </a:rPr>
              <a:t>Hongming</a:t>
            </a:r>
            <a:r>
              <a:rPr lang="en-US" sz="2000">
                <a:ea typeface="+mn-lt"/>
                <a:cs typeface="+mn-lt"/>
              </a:rPr>
              <a:t> Zhang, and Dong Yu. </a:t>
            </a:r>
            <a:r>
              <a:rPr lang="en-US" sz="2000" i="1">
                <a:ea typeface="+mn-lt"/>
                <a:cs typeface="+mn-lt"/>
              </a:rPr>
              <a:t>Dense X Retrieval: What Retrieval Granularity Should We Use?</a:t>
            </a:r>
            <a:r>
              <a:rPr lang="en-US" sz="2000">
                <a:ea typeface="+mn-lt"/>
                <a:cs typeface="+mn-lt"/>
              </a:rPr>
              <a:t> Proceedings of the 2024 Conference on Empirical Methods in Natural Language Processing (EMNLP), Miami, Florida, USA. 2024.</a:t>
            </a:r>
            <a:r>
              <a:rPr lang="en-US" sz="2000">
                <a:ea typeface="+mn-lt"/>
                <a:cs typeface="+mn-lt"/>
                <a:hlinkClick r:id="rId5"/>
              </a:rPr>
              <a:t>Dense X Retrieval: What Retrieval Granularity Should We Use? - ACL Anthology</a:t>
            </a:r>
          </a:p>
          <a:p>
            <a:pPr marL="457200" indent="0">
              <a:spcBef>
                <a:spcPts val="500"/>
              </a:spcBef>
              <a:buNone/>
            </a:pP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75565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44"/>
    </mc:Choice>
    <mc:Fallback xmlns="">
      <p:transition spd="slow" advTm="1604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4CA81447EB03458A17507701BB310E" ma:contentTypeVersion="13" ma:contentTypeDescription="Create a new document." ma:contentTypeScope="" ma:versionID="c393ae309a5af3223b05f4dd6014583c">
  <xsd:schema xmlns:xsd="http://www.w3.org/2001/XMLSchema" xmlns:xs="http://www.w3.org/2001/XMLSchema" xmlns:p="http://schemas.microsoft.com/office/2006/metadata/properties" xmlns:ns3="bfd4586b-edea-4284-8093-dbbdae1b303b" xmlns:ns4="2d10cffb-9097-4aa6-845e-a8b9e4a21470" targetNamespace="http://schemas.microsoft.com/office/2006/metadata/properties" ma:root="true" ma:fieldsID="df16a722587b5da9ffb1f2294db7b13f" ns3:_="" ns4:_="">
    <xsd:import namespace="bfd4586b-edea-4284-8093-dbbdae1b303b"/>
    <xsd:import namespace="2d10cffb-9097-4aa6-845e-a8b9e4a214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d4586b-edea-4284-8093-dbbdae1b30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0cffb-9097-4aa6-845e-a8b9e4a2147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d4586b-edea-4284-8093-dbbdae1b303b" xsi:nil="true"/>
  </documentManagement>
</p:properties>
</file>

<file path=customXml/itemProps1.xml><?xml version="1.0" encoding="utf-8"?>
<ds:datastoreItem xmlns:ds="http://schemas.openxmlformats.org/officeDocument/2006/customXml" ds:itemID="{161E0760-72F3-4C82-A77F-EC96370C80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9E977-62F3-4B5B-AA2F-08F3572547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d4586b-edea-4284-8093-dbbdae1b303b"/>
    <ds:schemaRef ds:uri="2d10cffb-9097-4aa6-845e-a8b9e4a214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1B0F90-A792-474B-9233-712F12A3CF37}">
  <ds:schemaRefs>
    <ds:schemaRef ds:uri="http://schemas.microsoft.com/office/2006/metadata/properties"/>
    <ds:schemaRef ds:uri="http://schemas.microsoft.com/office/infopath/2007/PartnerControls"/>
    <ds:schemaRef ds:uri="bfd4586b-edea-4284-8093-dbbdae1b30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Microsoft Office PowerPoint</Application>
  <PresentationFormat>Widescreen</PresentationFormat>
  <Paragraphs>136</Paragraphs>
  <Slides>15</Slides>
  <Notes>6</Notes>
  <HiddenSlides>0</HiddenSlides>
  <MMClips>14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Team 4 Adaptive Chunking for Retrieval-Augmented Generation (RAG)</vt:lpstr>
      <vt:lpstr>Problem Statement: Objective</vt:lpstr>
      <vt:lpstr>Problem Statement: Retrieval-Augmented Generation Chunking</vt:lpstr>
      <vt:lpstr>Problem Statement: I/O</vt:lpstr>
      <vt:lpstr>Problem Difficulty and Analysis: Overview</vt:lpstr>
      <vt:lpstr>Problem Difficulty and Analysis: DCR</vt:lpstr>
      <vt:lpstr>Problem Difficulty and Analysis: Adaptive Chunking</vt:lpstr>
      <vt:lpstr>Problem Difficulty and Analysis: DCS</vt:lpstr>
      <vt:lpstr>Problem Difficulty Analysis and Proposed Method (cont. algorithm/graphic) </vt:lpstr>
      <vt:lpstr>Simulation Setting: Implementation</vt:lpstr>
      <vt:lpstr>Simulation Setting: Dataset and Experimental Sizes</vt:lpstr>
      <vt:lpstr>Simulation Setting (continued - metrics/evaluation)​</vt:lpstr>
      <vt:lpstr>Milestones and Timeline: Milestones​</vt:lpstr>
      <vt:lpstr>Milestones and Timeline: Timeline​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Hammitt</dc:creator>
  <cp:lastModifiedBy>Hammitt, Justin</cp:lastModifiedBy>
  <cp:revision>1</cp:revision>
  <dcterms:created xsi:type="dcterms:W3CDTF">2026-09-17T18:02:49Z</dcterms:created>
  <dcterms:modified xsi:type="dcterms:W3CDTF">2026-10-19T17:26:19Z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0x010100DF4CA81447EB03458A17507701BB310E</vt:lpwstr>
  </property>
</Properties>
</file>